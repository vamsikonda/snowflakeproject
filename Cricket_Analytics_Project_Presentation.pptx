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91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6087-B616-8801-3F9B-FBB7F07D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50FE1-C0B6-3846-A37C-B72F67D23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8D430-0B3D-1F56-3375-494A36E7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2080-A83C-3E23-2DC5-9C582F458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7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ANALYTICS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Snowflake Data Engineering Case Study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nested JSON scorecards to a production-style star schema — Landing → Raw → Clean → Consumption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4892040"/>
            <a:ext cx="1234440" cy="123444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25328" y="5074920"/>
            <a:ext cx="10972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25328" y="5943600"/>
            <a:ext cx="10972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the Project?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Snowflake pipeline that turns raw, deeply-nested cricket match JSON files into a clean, query-ready analytical warehouse — built across four progressively refined layers.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EF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8892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raw JSON files as received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30168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63016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3016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into OBJECT / VARIANT / ARRAY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71416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EF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47141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4471416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into match, player &amp; delivery tables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12664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53126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531266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facts + dimensions for BI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50876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33+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13816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JSON files ingested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3154680"/>
            <a:ext cx="2743200" cy="0"/>
          </a:xfrm>
          <a:prstGeom prst="line">
            <a:avLst/>
          </a:prstGeom>
          <a:noFill/>
          <a:ln w="12700">
            <a:solidFill>
              <a:srgbClr val="3E6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13816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levels flattened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526280"/>
            <a:ext cx="2743200" cy="0"/>
          </a:xfrm>
          <a:prstGeom prst="line">
            <a:avLst/>
          </a:prstGeom>
          <a:noFill/>
          <a:ln w="12700">
            <a:solidFill>
              <a:srgbClr val="3E6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55280" y="4709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13816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in the final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 The Business Requirement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900D9-0CC0-2198-34F0-29737028E924}"/>
              </a:ext>
            </a:extLst>
          </p:cNvPr>
          <p:cNvSpPr txBox="1"/>
          <p:nvPr/>
        </p:nvSpPr>
        <p:spPr>
          <a:xfrm>
            <a:off x="822960" y="1428452"/>
            <a:ext cx="92643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main purpose is to turn raw match data into </a:t>
            </a:r>
            <a:r>
              <a:rPr lang="en-US" sz="2000" b="1" dirty="0"/>
              <a:t>useful insights for teams, analysts, broadcasters, and cricket fans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They may want to analyze: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Player performance</a:t>
            </a:r>
            <a:r>
              <a:rPr lang="en-US" sz="2000" dirty="0"/>
              <a:t> — runs, wickets, strike rate, economy, boundaries,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Team performance</a:t>
            </a:r>
            <a:r>
              <a:rPr lang="en-US" sz="2000" dirty="0"/>
              <a:t> — wins/losses, run rate, batting and bowling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Venue analysis</a:t>
            </a:r>
            <a:r>
              <a:rPr lang="en-US" sz="2000" dirty="0"/>
              <a:t> — which venues favor batting or bowling.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Toss impact</a:t>
            </a:r>
            <a:r>
              <a:rPr lang="en-US" sz="2000" dirty="0"/>
              <a:t> — whether winning the toss and choosing to bat/bowl first affects the result.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Match trends</a:t>
            </a:r>
            <a:r>
              <a:rPr lang="en-US" sz="2000" dirty="0"/>
              <a:t> — how scoring and wickets change over different overs.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Head-to-head analysis</a:t>
            </a:r>
            <a:r>
              <a:rPr lang="en-US" sz="2000" dirty="0"/>
              <a:t> — how one team performs against another.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Player comparison</a:t>
            </a:r>
            <a:r>
              <a:rPr lang="en-US" sz="2000" dirty="0"/>
              <a:t> — identify top-performing batters and bowlers.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Historical trends</a:t>
            </a:r>
            <a:r>
              <a:rPr lang="en-US" sz="2000" dirty="0"/>
              <a:t> — compare performance across matches, series, seasons, or years. </a:t>
            </a:r>
          </a:p>
          <a:p>
            <a:pPr>
              <a:buNone/>
            </a:pPr>
            <a:r>
              <a:rPr lang="en-US" sz="2000" dirty="0"/>
              <a:t>For example:</a:t>
            </a:r>
          </a:p>
          <a:p>
            <a:pPr>
              <a:buNone/>
            </a:pPr>
            <a:r>
              <a:rPr lang="en-US" sz="2000" b="1" dirty="0"/>
              <a:t>"If a team is playing at a particular venue, analysts can look at historical data to understand whether teams generally perform better batting first or chasing."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DOMAIN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Analyzing Cricket Data?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81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complexity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842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nested levels (match→innings→overs→deliveries→extras/wickets) stress-tests semi-structured data handling.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analytical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358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aggregate (team/venue trends) and granular (ball-by-ball) analysis — justifying two fact tables.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850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 cost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873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free match files give real scale to test performance &amp; incremental loading.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7365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&amp; demo-friendly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1389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followed sport — resulting metrics are intuitive for any audience.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20116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stand-in for any nested, high-volume, event-style dataset.”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365760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patterns built here — semi-structured parsing, multi-level flattening, incremental orchestration — transfer directly to IoT logs, clickstreams, and transaction feeds.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Architecture: Four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1E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JSON file 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72968" y="3246120"/>
            <a:ext cx="283464" cy="274320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DCE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MATCH_RAW_TBL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 / info / innings)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07608" y="3246120"/>
            <a:ext cx="283464" cy="274320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B7D2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· Player · Delivery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(LATERAL FLATTEN)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42248" y="3246120"/>
            <a:ext cx="283464" cy="274320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(facts + dimensions)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exactly one job — isolating concerns makes the pipeline easy to debug, reprocess, and extend without touching source data.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Snowflake Streams + Tasks automate the refresh end-to-end — no manual re-run needed as new files land.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&amp; Raw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Snowflake stage (@my_stg) holds raw JSON files exactly as received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file format with STRIP_OUTER_ARRAY = TRUE unwraps the outer JSON array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~2,000+ files uploaded via SnowSQL (impractical via the web UI at this volume)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MATCH_RAW_TBL stores META (object), INFO (variant), INNINGS (array) per 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1089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captures file lineage: filename, row number, content hash, load timestamp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886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ON_ERROR = CONTINUE — one bad file never blocks the rest of the load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Layer: Three Business 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MATCH_DETAIL_CLEAN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/ 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Event, date, teams, venue, toss, result, winner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PLAYER_CLEAN_TBL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/ player-team-match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from nested PLAYERS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1920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DELIVERY_CLEAN_TBL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/ ball bowled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320040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Bowler, batter, runs, extras, wickets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raw layer using colon path notation (info:city::text) and chained LATERAL FLATTEN calls to explode nested arrays into rows — see next slide.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KEY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LATERAL and FLATTEN?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FLATTEN takes an ARRAY or OBJECT and converts each item into a separate row. It is a table function that works on tables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18139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602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  <a:p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602" y="47181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It helps to get all the rows and don't lose rows that have nothing to explode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raw.match_raw_tbl m,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flatten(input =&gt; m.innings) i,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flatten(input =&gt; i.value:overs) 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flatten(input =&gt; o.value:deliveries) d,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flatten(input =&gt; d.value:extras,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outer =&gt; True) 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flatten(input =&gt; d.value:wickets,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outer =&gt; True) 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50749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chained flattens: innings → overs → deliveries → extras / wickets — one row out per ball bowled.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DEE2F-9792-5EFC-0BF7-244A4D883B9C}"/>
              </a:ext>
            </a:extLst>
          </p:cNvPr>
          <p:cNvSpPr txBox="1"/>
          <p:nvPr/>
        </p:nvSpPr>
        <p:spPr>
          <a:xfrm>
            <a:off x="302342" y="2797933"/>
            <a:ext cx="609845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LATERAL allows </a:t>
            </a:r>
            <a:r>
              <a:rPr lang="en-US" sz="1800" dirty="0"/>
              <a:t>FLATTEN</a:t>
            </a:r>
            <a:r>
              <a:rPr lang="en-US" sz="1400" dirty="0"/>
              <a:t> to work separately for each row of the previous table.</a:t>
            </a:r>
            <a:br>
              <a:rPr lang="en-US" sz="1400" dirty="0"/>
            </a:br>
            <a:r>
              <a:rPr lang="en-US" sz="1400" dirty="0"/>
              <a:t>Delivery 1 → [Pizza, Burger]</a:t>
            </a:r>
          </a:p>
          <a:p>
            <a:r>
              <a:rPr lang="en-US" sz="1400" dirty="0"/>
              <a:t>Delivery 2 → [Rice]</a:t>
            </a:r>
          </a:p>
          <a:p>
            <a:r>
              <a:rPr lang="en-US" sz="1400" dirty="0"/>
              <a:t>Delivery 3 → [Chicken, Coke]</a:t>
            </a:r>
          </a:p>
          <a:p>
            <a:r>
              <a:rPr lang="en-US" sz="1400" dirty="0"/>
              <a:t>By using the LATERAL function it will be like this – </a:t>
            </a:r>
          </a:p>
          <a:p>
            <a:r>
              <a:rPr lang="en-US" sz="1400" dirty="0"/>
              <a:t>Delivery 1 → Pizza</a:t>
            </a:r>
          </a:p>
          <a:p>
            <a:r>
              <a:rPr lang="en-US" sz="1400" dirty="0"/>
              <a:t>Delivery 1 → Burger</a:t>
            </a:r>
          </a:p>
          <a:p>
            <a:r>
              <a:rPr lang="en-US" sz="1400" dirty="0"/>
              <a:t>Delivery 2 → Rice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Refresh: Streams &amp;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1308" y="25146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130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LOAD_JSON_TO_RAW runs every 10 min, loads new files from the stage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5184" y="3703320"/>
            <a:ext cx="118872" cy="22860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15868" y="25146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1586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6118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APPEND_ONLY streams track new raw rows independently, per consumer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3703320"/>
            <a:ext cx="118872" cy="22860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0428" y="25146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04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Tasks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6118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SYSTEM$STREAM_HAS_DATA — only run (and cost compute) when needed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04304" y="3703320"/>
            <a:ext cx="118872" cy="22860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0" y="228600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04988" y="25146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498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Tasks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6118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MINUS to insert only genuinely new team/player/venue rows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98864" y="3703320"/>
            <a:ext cx="118872" cy="22860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326880" y="228600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1230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99548" y="25146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9954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1832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Tasks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64040" y="36118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surrogate keys and aggregate deliveries up to match grain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self-orchestrating pipeline — the warehouse refreshes itself as new match files land, with no manual re-run.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Model: A Star Schema</a:t>
            </a:r>
            <a:endParaRPr lang="en-US" sz="3200" dirty="0"/>
          </a:p>
        </p:txBody>
      </p:sp>
      <p:pic>
        <p:nvPicPr>
          <p:cNvPr id="4" name="Image 0" descr="/home/claude/project/data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554480"/>
            <a:ext cx="7516368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 Tables, Two Grains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MATCH_FACT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per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date, both teams, match type, venue, toss &amp; winner to dimension keys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team measures: overs, balls, extras, fours, sixes, total score, wickets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“who won, by how much, where” cheaply — no ball-level scan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DELIVERY_FACT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1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per ball bowled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match, team, bowler, batter, non-striker to surrogate keys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657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over, runs, extras, extra type, dismissed player &amp; dismissal kind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granular questions — strike rate, economy, batter-vs-bowler match-ups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JSON required chaining multiple LATERAL FLATTEN calls and tracking VALUE/PATH/KEY at each 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row drops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FLATTEN drops deliveries with no extras/wicket — fixed with outer =&gt; True.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87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 propagation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MATACH_RESULT had to be tracked consistently rather than renamed mid-pipeline.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142232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87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city handling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572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NULL city vs. dimension's 'NA' default could silently drop matches from a join.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already consumed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tasks were gated on a stream the delivery task had already drained — they silently stopped running.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joins drop valid matches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Tied/no-result matches (WINNER = 'NA') were excluded by inner joins to TEAM_DIM.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87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match format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overs / 6 balls assumed ODI rules — breaks for T20 and Test matches.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5EC"/>
          </a:solidFill>
          <a:ln w="12700">
            <a:solidFill>
              <a:srgbClr val="E2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142232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87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protection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5720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INSERTs need explicit de-dup (LEFT JOIN ... IS NULL or hash-key MERGE) to handle re-runs.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D1F06-4B21-21B6-E951-1CEEDDAC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32403ADE-DF68-4ED8-F7C1-7ED7BB5E1140}"/>
              </a:ext>
            </a:extLst>
          </p:cNvPr>
          <p:cNvSpPr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09 · Power BI Report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F75B4F7-D340-C8B9-6E71-C4D2022FB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315469"/>
            <a:ext cx="7225748" cy="422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8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1407</Words>
  <Application>Microsoft Office PowerPoint</Application>
  <PresentationFormat>Widescreen</PresentationFormat>
  <Paragraphs>196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Vamsi K</cp:lastModifiedBy>
  <cp:revision>8</cp:revision>
  <dcterms:created xsi:type="dcterms:W3CDTF">2026-09-08T20:28:59Z</dcterms:created>
  <dcterms:modified xsi:type="dcterms:W3CDTF">2026-09-08T22:35:36Z</dcterms:modified>
</cp:coreProperties>
</file>